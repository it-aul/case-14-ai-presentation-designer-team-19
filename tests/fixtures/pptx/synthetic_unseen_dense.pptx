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170432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7315200"/>
          </a:xfrm>
          <a:prstGeom prst="rect">
            <a:avLst/>
          </a:prstGeom>
          <a:solidFill>
            <a:srgbClr val="23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7BD389"/>
                </a:solidFill>
                <a:latin typeface="Courier New"/>
              </a:rPr>
              <a:t>Плотный техно-отчёт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7315200"/>
          </a:xfrm>
          <a:prstGeom prst="rect">
            <a:avLst/>
          </a:prstGeom>
          <a:solidFill>
            <a:srgbClr val="23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04320" cy="731520"/>
          </a:xfrm>
          <a:prstGeom prst="rect">
            <a:avLst/>
          </a:prstGeom>
          <a:solidFill>
            <a:srgbClr val="2E3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9EDE9"/>
                </a:solidFill>
                <a:latin typeface="Courier New"/>
              </a:rPr>
              <a:t>Статус портфеля — детально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315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EDE9"/>
                </a:solidFill>
                <a:latin typeface="Courier New"/>
              </a:rPr>
              <a:t>— Стрим A: миграция завершена на 78%, критический путь — биллинг</a:t>
            </a:r>
          </a:p>
          <a:p>
            <a:r>
              <a:rPr sz="1200">
                <a:solidFill>
                  <a:srgbClr val="E9EDE9"/>
                </a:solidFill>
                <a:latin typeface="Courier New"/>
              </a:rPr>
              <a:t>— Стрим B: 41 из 52 сервисов переведены на новую шину событий</a:t>
            </a:r>
          </a:p>
          <a:p>
            <a:r>
              <a:rPr sz="1200">
                <a:solidFill>
                  <a:srgbClr val="E9EDE9"/>
                </a:solidFill>
                <a:latin typeface="Courier New"/>
              </a:rPr>
              <a:t>— Стрим C: техдолг закрыт на 60%, остаток — легаси-отчётность</a:t>
            </a:r>
          </a:p>
          <a:p>
            <a:r>
              <a:rPr sz="1200">
                <a:solidFill>
                  <a:srgbClr val="E9EDE9"/>
                </a:solidFill>
                <a:latin typeface="Courier New"/>
              </a:rPr>
              <a:t>— Инциденты: 2 SEV-3 за период, оба закрыты без эскалации</a:t>
            </a:r>
          </a:p>
          <a:p>
            <a:r>
              <a:rPr sz="1200">
                <a:solidFill>
                  <a:srgbClr val="E9EDE9"/>
                </a:solidFill>
                <a:latin typeface="Courier New"/>
              </a:rPr>
              <a:t>— Найм: 9 офферов принято, 4 в процессе, воронка стабильна</a:t>
            </a:r>
          </a:p>
          <a:p>
            <a:r>
              <a:rPr sz="1200">
                <a:solidFill>
                  <a:srgbClr val="E9EDE9"/>
                </a:solidFill>
                <a:latin typeface="Courier New"/>
              </a:rPr>
              <a:t>— Бюджет: расход 87% от плана, отклонение в пределах нормы</a:t>
            </a:r>
          </a:p>
          <a:p>
            <a:r>
              <a:rPr sz="1200">
                <a:solidFill>
                  <a:srgbClr val="E9EDE9"/>
                </a:solidFill>
                <a:latin typeface="Courier New"/>
              </a:rPr>
              <a:t>— Риски: поставщик CDN подтвердил миграцию до конца квартала</a:t>
            </a:r>
          </a:p>
          <a:p>
            <a:r>
              <a:rPr sz="1200">
                <a:solidFill>
                  <a:srgbClr val="E9EDE9"/>
                </a:solidFill>
                <a:latin typeface="Courier New"/>
              </a:rPr>
              <a:t>— Комплаенс: аудит завершён, замечаний уровня blocker нет</a:t>
            </a:r>
          </a:p>
          <a:p>
            <a:r>
              <a:rPr sz="1200">
                <a:solidFill>
                  <a:srgbClr val="E9EDE9"/>
                </a:solidFill>
                <a:latin typeface="Courier New"/>
              </a:rPr>
              <a:t>— Итог: портфель в графике, фокус следующего периода — биллинг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914400"/>
            <a:ext cx="347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6A39E"/>
                </a:solidFill>
                <a:latin typeface="Courier New"/>
              </a:rPr>
              <a:t>Боковая колонка с примечаниями и оговорками по цифрам.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7315200"/>
          </a:xfrm>
          <a:prstGeom prst="rect">
            <a:avLst/>
          </a:prstGeom>
          <a:solidFill>
            <a:srgbClr val="23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9EDE9"/>
                </a:solidFill>
                <a:latin typeface="Courier New"/>
              </a:rPr>
              <a:t>Две таблицы на одном слайде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5394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</a:tblGrid>
              <a:tr h="1036320">
                <a:tc>
                  <a:txBody>
                    <a:bodyPr/>
                    <a:lstStyle/>
                    <a:p>
                      <a:r>
                        <a:t>T1 r0 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r0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r0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r0 c3</a:t>
                      </a:r>
                    </a:p>
                  </a:txBody>
                  <a:tcPr/>
                </a:tc>
              </a:tr>
              <a:tr h="1036320">
                <a:tc>
                  <a:txBody>
                    <a:bodyPr/>
                    <a:lstStyle/>
                    <a:p>
                      <a:r>
                        <a:t>T1 r1 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r1 c3</a:t>
                      </a:r>
                    </a:p>
                  </a:txBody>
                  <a:tcPr/>
                </a:tc>
              </a:tr>
              <a:tr h="1036320">
                <a:tc>
                  <a:txBody>
                    <a:bodyPr/>
                    <a:lstStyle/>
                    <a:p>
                      <a:r>
                        <a:t>T1 r2 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r2 c3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0" y="1097280"/>
          <a:ext cx="5394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</a:tblGrid>
              <a:tr h="1036320">
                <a:tc>
                  <a:txBody>
                    <a:bodyPr/>
                    <a:lstStyle/>
                    <a:p>
                      <a:r>
                        <a:t>T2 r0 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 r0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 r0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 r0 c3</a:t>
                      </a:r>
                    </a:p>
                  </a:txBody>
                  <a:tcPr/>
                </a:tc>
              </a:tr>
              <a:tr h="1036320">
                <a:tc>
                  <a:txBody>
                    <a:bodyPr/>
                    <a:lstStyle/>
                    <a:p>
                      <a:r>
                        <a:t>T2 r1 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 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 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 r1 c3</a:t>
                      </a:r>
                    </a:p>
                  </a:txBody>
                  <a:tcPr/>
                </a:tc>
              </a:tr>
              <a:tr h="1036320">
                <a:tc>
                  <a:txBody>
                    <a:bodyPr/>
                    <a:lstStyle/>
                    <a:p>
                      <a:r>
                        <a:t>T2 r2 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 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 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 r2 c3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6A39E"/>
                </a:solidFill>
                <a:latin typeface="Courier New"/>
              </a:rPr>
              <a:t>Сноска: значения округлены до целых.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7315200"/>
          </a:xfrm>
          <a:prstGeom prst="rect">
            <a:avLst/>
          </a:prstGeom>
          <a:solidFill>
            <a:srgbClr val="23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9EDE9"/>
                </a:solidFill>
                <a:latin typeface="Courier New"/>
              </a:rPr>
              <a:t>KPI-лента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103120" cy="4114800"/>
          </a:xfrm>
          <a:prstGeom prst="rect">
            <a:avLst/>
          </a:prstGeom>
          <a:solidFill>
            <a:srgbClr val="2E3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BD389"/>
                </a:solidFill>
                <a:latin typeface="Courier New"/>
              </a:rPr>
              <a:t>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6A39E"/>
                </a:solidFill>
                <a:latin typeface="Courier New"/>
              </a:rPr>
              <a:t>подпись показателя в две строки с пояснением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371600"/>
            <a:ext cx="2103120" cy="4114800"/>
          </a:xfrm>
          <a:prstGeom prst="rect">
            <a:avLst/>
          </a:prstGeom>
          <a:solidFill>
            <a:srgbClr val="2E3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BD389"/>
                </a:solidFill>
                <a:latin typeface="Courier New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5603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6A39E"/>
                </a:solidFill>
                <a:latin typeface="Courier New"/>
              </a:rPr>
              <a:t>подпись показателя в две строки с пояснением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371600"/>
            <a:ext cx="2103120" cy="4114800"/>
          </a:xfrm>
          <a:prstGeom prst="rect">
            <a:avLst/>
          </a:prstGeom>
          <a:solidFill>
            <a:srgbClr val="2E3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BD389"/>
                </a:solidFill>
                <a:latin typeface="Courier New"/>
              </a:rPr>
              <a:t>57%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5603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6A39E"/>
                </a:solidFill>
                <a:latin typeface="Courier New"/>
              </a:rPr>
              <a:t>подпись показателя в две строки с пояснением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371600"/>
            <a:ext cx="2103120" cy="4114800"/>
          </a:xfrm>
          <a:prstGeom prst="rect">
            <a:avLst/>
          </a:prstGeom>
          <a:solidFill>
            <a:srgbClr val="2E3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BD389"/>
                </a:solidFill>
                <a:latin typeface="Courier New"/>
              </a:rPr>
              <a:t>74%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5603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6A39E"/>
                </a:solidFill>
                <a:latin typeface="Courier New"/>
              </a:rPr>
              <a:t>подпись показателя в две строки с пояснением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1371600"/>
            <a:ext cx="2103120" cy="4114800"/>
          </a:xfrm>
          <a:prstGeom prst="rect">
            <a:avLst/>
          </a:prstGeom>
          <a:solidFill>
            <a:srgbClr val="2E3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BD389"/>
                </a:solidFill>
                <a:latin typeface="Courier New"/>
              </a:rPr>
              <a:t>91%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5603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6A39E"/>
                </a:solidFill>
                <a:latin typeface="Courier New"/>
              </a:rPr>
              <a:t>подпись показателя в две строки с пояснением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