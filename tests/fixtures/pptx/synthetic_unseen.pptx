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09728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2F0E9"/>
                </a:solidFill>
                <a:latin typeface="Trebuchet MS"/>
              </a:rPr>
              <a:t>Тёмная сторона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FB3AE"/>
                </a:solidFill>
                <a:latin typeface="Trebuchet MS"/>
              </a:rPr>
              <a:t>Синтетический шаблон, которого пайплайн никогда не видел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0E9"/>
                </a:solidFill>
                <a:latin typeface="Trebuchet MS"/>
              </a:rPr>
              <a:t>Шесть опор платформы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097280" cy="64008"/>
          </a:xfrm>
          <a:prstGeom prst="rect">
            <a:avLst/>
          </a:prstGeom>
          <a:solidFill>
            <a:srgbClr val="E8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Наблюдаемость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Метрики и трейсы собираются из каждого сервиса без ручной настройки агентов.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Декларативность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Схема поставки описывается одним манифестом и применяется идемпотентно.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Изоляция арендаторов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Каждый клиент получает собственный контур секретов и квот на ресурсы.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Откат за секунды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Любой релиз откатывается атомарно по сохранённому снапшоту состояния.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Канареечные волны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Трафик нарастает ступенями с автоматической остановкой по метрикам.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566160" cy="2194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82296" cy="2194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Аудит действий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Все изменения окружения подписываются и попадают в неизменяемый журнал.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0E9"/>
                </a:solidFill>
                <a:latin typeface="Trebuchet MS"/>
              </a:rPr>
              <a:t>Год в цифрах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097280" cy="64008"/>
          </a:xfrm>
          <a:prstGeom prst="rect">
            <a:avLst/>
          </a:prstGeom>
          <a:solidFill>
            <a:srgbClr val="E8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31089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B547"/>
                </a:solidFill>
                <a:latin typeface="Trebuchet MS"/>
              </a:rPr>
              <a:t>99,97%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доступность платформы по итогам двенадцати месяцев без учёта плановых окон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651760" cy="31089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B547"/>
                </a:solidFill>
                <a:latin typeface="Trebuchet MS"/>
              </a:rPr>
              <a:t>4 200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деплоев в продакшен выполнили команды за период без единого инцидента отката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2651760" cy="31089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B547"/>
                </a:solidFill>
                <a:latin typeface="Trebuchet MS"/>
              </a:rPr>
              <a:t>38 сек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медианное время от обнаружения регресса до полного отката версии на всех узлах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645920"/>
            <a:ext cx="2651760" cy="31089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B547"/>
                </a:solidFill>
                <a:latin typeface="Trebuchet M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регионов присутствия с локальной обработкой данных по требованиям регуляторов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0E9"/>
                </a:solidFill>
                <a:latin typeface="Trebuchet MS"/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097280" cy="64008"/>
          </a:xfrm>
          <a:prstGeom prst="rect">
            <a:avLst/>
          </a:prstGeom>
          <a:solidFill>
            <a:srgbClr val="E8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Приём шаблона</a:t>
            </a:r>
          </a:p>
          <a:p>
            <a:r>
              <a:rPr sz="1200" b="0">
                <a:solidFill>
                  <a:srgbClr val="9FB3AE"/>
                </a:solidFill>
                <a:latin typeface="Trebuchet MS"/>
              </a:rPr>
              <a:t>Произвольный файл разбирается до уровня OPC-частей, строится граф зависимостей и снимается слепок стиля.</a:t>
            </a:r>
          </a:p>
          <a:p>
            <a:r>
              <a:rPr sz="1600" b="1">
                <a:solidFill>
                  <a:srgbClr val="F2F0E9"/>
                </a:solidFill>
                <a:latin typeface="Trebuchet MS"/>
              </a:rPr>
              <a:t>Перенос контента</a:t>
            </a:r>
          </a:p>
          <a:p>
            <a:r>
              <a:rPr sz="1200" b="0">
                <a:solidFill>
                  <a:srgbClr val="9FB3AE"/>
                </a:solidFill>
                <a:latin typeface="Trebuchet MS"/>
              </a:rPr>
              <a:t>Текстовые блоки ложатся в слоты exemplar-слайдов с сохранением всех relationships пакета.</a:t>
            </a:r>
          </a:p>
        </p:txBody>
      </p:sp>
      <p:pic>
        <p:nvPicPr>
          <p:cNvPr id="6" name="Picture 5" descr="deckdna_synthetic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B547"/>
                </a:solidFill>
                <a:latin typeface="Trebuchet MS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1488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8705A"/>
                </a:solidFill>
                <a:latin typeface="Trebuchet MS"/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B547"/>
                </a:solidFill>
                <a:latin typeface="Trebuchet MS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1488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8705A"/>
                </a:solidFill>
                <a:latin typeface="Trebuchet MS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B547"/>
                </a:solidFill>
                <a:latin typeface="Trebuchet MS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488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8705A"/>
                </a:solidFill>
                <a:latin typeface="Trebuchet MS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8288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B547"/>
                </a:solidFill>
                <a:latin typeface="Trebuchet MS"/>
              </a:rPr>
              <a:t>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17904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1952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0048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54096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2191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0288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58384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42432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0528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94576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8624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62671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0768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14816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98864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82912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66960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51008" y="5029200"/>
            <a:ext cx="228600" cy="50292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35056" y="5029200"/>
            <a:ext cx="228600" cy="64008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19104" y="5029200"/>
            <a:ext cx="228600" cy="22860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03152" y="5029200"/>
            <a:ext cx="228600" cy="3657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0E9"/>
                </a:solidFill>
                <a:latin typeface="Trebuchet MS"/>
              </a:rPr>
              <a:t>Дорожная карта релизов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097280" cy="64008"/>
          </a:xfrm>
          <a:prstGeom prst="rect">
            <a:avLst/>
          </a:prstGeom>
          <a:solidFill>
            <a:srgbClr val="E87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82296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Q1 — Стабилизация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698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Закрытие критических регрессий, выравнивание документации и покрытие ядра тестами.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1064240" cy="1051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82296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Q2 — Масштабирование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10698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Горизонтальное расширение брокеров, разделение планов управления и данных.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64240" cy="1051560"/>
          </a:xfrm>
          <a:prstGeom prst="rect">
            <a:avLst/>
          </a:prstGeom>
          <a:solidFill>
            <a:srgbClr val="355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82296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Q3 — Экосистема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10698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Публичный SDK, каталог расширений и программа сертификации партнёрских интеграций.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2A3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82296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2F0E9"/>
                </a:solidFill>
                <a:latin typeface="Trebuchet MS"/>
              </a:rPr>
              <a:t>Q4 — Платформа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9848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FB3AE"/>
                </a:solidFill>
                <a:latin typeface="Trebuchet MS"/>
              </a:rPr>
              <a:t>Мультитенантная панель, биллинг по потреблению и рынок готовых сценариев.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